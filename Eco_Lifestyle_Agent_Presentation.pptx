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1pPr>
    <a:lvl2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2pPr>
    <a:lvl3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3pPr>
    <a:lvl4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4pPr>
    <a:lvl5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5pPr>
    <a:lvl6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6pPr>
    <a:lvl7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7pPr>
    <a:lvl8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8pPr>
    <a:lvl9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86" autoAdjust="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8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pPr marL="457200" indent="-298450">
              <a:spcBef>
                <a:spcPts val="0"/>
              </a:spcBef>
              <a:spcAft>
                <a:spcPts val="0"/>
              </a:spcAft>
              <a:buSzPts val="1100"/>
              <a:buFont typeface="Droid Sans" charset="0"/>
              <a:buChar char="●"/>
            </a:pPr>
            <a:endParaRPr lang="zh-CN" altLang="en-US" sz="1100"/>
          </a:p>
        </p:txBody>
      </p:sp>
    </p:spTree>
    <p:extLst>
      <p:ext uri="{BB962C8B-B14F-4D97-AF65-F5344CB8AC3E}">
        <p14:creationId xmlns:p14="http://schemas.microsoft.com/office/powerpoint/2010/main" val="6950593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1pPr>
    <a:lvl2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2pPr>
    <a:lvl3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3pPr>
    <a:lvl4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4pPr>
    <a:lvl5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5pPr>
    <a:lvl6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6pPr>
    <a:lvl7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7pPr>
    <a:lvl8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8pPr>
    <a:lvl9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910000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429202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923812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44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073235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298132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8915710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1002231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999940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4681572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2526479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8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5364766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1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719814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663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460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809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940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654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231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547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4569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011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372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386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6000"/>
          </a:p>
        </p:txBody>
      </p:sp>
      <p:sp>
        <p:nvSpPr>
          <p:cNvPr id="10" name="文本框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zh-CN" altLang="en-US" sz="2400">
              <a:solidFill>
                <a:srgbClr val="888888"/>
              </a:solidFill>
            </a:endParaRPr>
          </a:p>
        </p:txBody>
      </p:sp>
      <p:sp>
        <p:nvSpPr>
          <p:cNvPr id="11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12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13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‹#›</a:t>
            </a:fld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4203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7" name="文本框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>
              <a:avLst/>
            </a:prstTxWarp>
          </a:bodyPr>
          <a:lstStyle/>
          <a:p>
            <a: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endParaRPr lang="zh-CN" altLang="en-US"/>
          </a:p>
        </p:txBody>
      </p:sp>
      <p:sp>
        <p:nvSpPr>
          <p:cNvPr id="18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19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20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‹#›</a:t>
            </a:fld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500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44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>
              <a:avLst/>
            </a:prstTxWarp>
          </a:bodyPr>
          <a:lstStyle/>
          <a:p>
            <a: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charset="0"/>
              <a:buChar char="•"/>
            </a:pPr>
            <a:endParaRPr lang="zh-CN" altLang="en-US" sz="28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200" b="0" i="0" u="none" strike="noStrike" kern="0" cap="none" spc="0" baseline="0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‹#›</a:t>
            </a:fld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105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1pPr>
    </p:titleStyle>
    <p:body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1pPr>
      <a:lvl2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2pPr>
      <a:lvl3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3pPr>
      <a:lvl4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4pPr>
      <a:lvl5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5pPr>
      <a:lvl6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6pPr>
      <a:lvl7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7pPr>
      <a:lvl8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8pPr>
      <a:lvl9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6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IBM University Engagement Project Submission</a:t>
            </a:r>
            <a:br>
              <a:rPr lang="zh-CN" altLang="en-US" sz="60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</a:br>
            <a:endParaRPr lang="zh-CN" altLang="en-US" sz="6000" b="0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Lucida Sans" charset="0"/>
            </a:endParaRPr>
          </a:p>
        </p:txBody>
      </p:sp>
      <p:sp>
        <p:nvSpPr>
          <p:cNvPr id="15" name="文本框"/>
          <p:cNvSpPr>
            <a:spLocks noGrp="1"/>
          </p:cNvSpPr>
          <p:nvPr>
            <p:ph type="body" idx="1"/>
          </p:nvPr>
        </p:nvSpPr>
        <p:spPr>
          <a:xfrm>
            <a:off x="690884" y="3989386"/>
            <a:ext cx="10515600" cy="150018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45720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1" i="1" u="none" strike="noStrike" kern="0" cap="none" spc="0" baseline="0">
                <a:solidFill>
                  <a:srgbClr val="888888"/>
                </a:solidFill>
                <a:latin typeface="Arial" charset="0"/>
                <a:ea typeface="Arial" charset="0"/>
                <a:cs typeface="Lucida Sans" charset="0"/>
              </a:rPr>
              <a:t>“Exploring the Power of Agentic AI with IBM Watsonx”</a:t>
            </a:r>
            <a:endParaRPr lang="zh-CN" altLang="en-US" sz="2400" b="0" i="0" u="none" strike="noStrike" kern="0" cap="none" spc="0" baseline="0">
              <a:solidFill>
                <a:srgbClr val="888888"/>
              </a:solidFill>
              <a:latin typeface="Arial" charset="0"/>
              <a:ea typeface="Arial" charset="0"/>
              <a:cs typeface="Lucida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046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"/>
          <p:cNvSpPr>
            <a:spLocks/>
          </p:cNvSpPr>
          <p:nvPr/>
        </p:nvSpPr>
        <p:spPr>
          <a:xfrm>
            <a:off x="690624" y="4425370"/>
            <a:ext cx="10795794" cy="19922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</p:sp>
      <p:sp>
        <p:nvSpPr>
          <p:cNvPr id="22" name="矩形"/>
          <p:cNvSpPr>
            <a:spLocks/>
          </p:cNvSpPr>
          <p:nvPr/>
        </p:nvSpPr>
        <p:spPr>
          <a:xfrm>
            <a:off x="1102321" y="1174639"/>
            <a:ext cx="7426405" cy="45151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</p:sp>
      <p:graphicFrame>
        <p:nvGraphicFramePr>
          <p:cNvPr id="23" name="Table"/>
          <p:cNvGraphicFramePr>
            <a:graphicFrameLocks noGrp="1"/>
          </p:cNvGraphicFramePr>
          <p:nvPr/>
        </p:nvGraphicFramePr>
        <p:xfrm>
          <a:off x="1299257" y="2600315"/>
          <a:ext cx="9394684" cy="2413416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064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3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7732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0" cap="none" spc="0" baseline="0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Arial" charset="0"/>
                        </a:rPr>
                        <a:t>Student Name</a:t>
                      </a:r>
                      <a:endParaRPr lang="zh-CN" altLang="en-US" sz="1800" b="0" i="0" u="none" strike="noStrike" kern="0" cap="none" spc="0" baseline="0">
                        <a:solidFill>
                          <a:srgbClr val="000000"/>
                        </a:solidFill>
                        <a:latin typeface="Arial" charset="0"/>
                        <a:ea typeface="Arial" charset="0"/>
                        <a:cs typeface="Arial" charset="0"/>
                        <a:sym typeface="Arial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0" cap="none" spc="0" baseline="0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Arial" charset="0"/>
                        </a:rPr>
                        <a:t>Recent Passport Photo</a:t>
                      </a:r>
                      <a:endParaRPr lang="zh-CN" altLang="en-US" sz="1800" b="0" i="0" u="none" strike="noStrike" kern="0" cap="none" spc="0" baseline="0">
                        <a:solidFill>
                          <a:srgbClr val="000000"/>
                        </a:solidFill>
                        <a:latin typeface="Arial" charset="0"/>
                        <a:ea typeface="Arial" charset="0"/>
                        <a:cs typeface="Arial" charset="0"/>
                        <a:sym typeface="Arial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0" cap="none" spc="0" baseline="0">
                          <a:solidFill>
                            <a:srgbClr val="000000"/>
                          </a:solidFill>
                          <a:latin typeface="Arial" charset="0"/>
                          <a:ea typeface="Calibri" charset="0"/>
                          <a:cs typeface="Arial" charset="0"/>
                          <a:sym typeface="Calibri" charset="0"/>
                        </a:rPr>
                        <a:t>Email ID </a:t>
                      </a:r>
                      <a:endParaRPr lang="zh-CN" altLang="en-US" sz="1800" b="0" i="0" u="none" strike="noStrike" kern="0" cap="none" spc="0" baseline="0">
                        <a:solidFill>
                          <a:srgbClr val="000000"/>
                        </a:solidFill>
                        <a:latin typeface="Arial" charset="0"/>
                        <a:ea typeface="Arial" charset="0"/>
                        <a:cs typeface="Arial" charset="0"/>
                        <a:sym typeface="Arial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0" cap="none" spc="0" baseline="0">
                          <a:solidFill>
                            <a:srgbClr val="000000"/>
                          </a:solidFill>
                          <a:latin typeface="Arial" charset="0"/>
                          <a:ea typeface="Calibri" charset="0"/>
                          <a:cs typeface="Arial" charset="0"/>
                          <a:sym typeface="Calibri" charset="0"/>
                        </a:rPr>
                        <a:t>Mobile number</a:t>
                      </a:r>
                      <a:endParaRPr lang="en-US" altLang="zh-CN" sz="1800" b="0" i="0" u="none" strike="noStrike" kern="0" cap="none" spc="0" baseline="0">
                        <a:solidFill>
                          <a:srgbClr val="000000"/>
                        </a:solidFill>
                        <a:latin typeface="Arial" charset="0"/>
                        <a:ea typeface="Arial" charset="0"/>
                        <a:cs typeface="Arial" charset="0"/>
                        <a:sym typeface="Arial" charset="0"/>
                      </a:endParaRP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0" cap="none" spc="0" baseline="0">
                          <a:solidFill>
                            <a:srgbClr val="000000"/>
                          </a:solidFill>
                          <a:latin typeface="Arial" charset="0"/>
                          <a:ea typeface="Calibri" charset="0"/>
                          <a:cs typeface="Arial" charset="0"/>
                          <a:sym typeface="Calibri" charset="0"/>
                        </a:rPr>
                        <a:t>[WhatsApp] </a:t>
                      </a:r>
                      <a:endParaRPr lang="zh-CN" altLang="en-US" sz="1800" b="0" i="0" u="none" strike="noStrike" kern="0" cap="none" spc="0" baseline="0">
                        <a:solidFill>
                          <a:srgbClr val="000000"/>
                        </a:solidFill>
                        <a:latin typeface="Arial" charset="0"/>
                        <a:ea typeface="Arial" charset="0"/>
                        <a:cs typeface="Arial" charset="0"/>
                        <a:sym typeface="Arial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608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400" b="0" i="0" u="none" strike="noStrike" kern="0" cap="none" spc="0" baseline="0">
                        <a:solidFill>
                          <a:srgbClr val="000000"/>
                        </a:solidFill>
                        <a:latin typeface="Arial" charset="0"/>
                        <a:ea typeface="Arial" charset="0"/>
                        <a:cs typeface="Arial" charset="0"/>
                        <a:sym typeface="Arial" charset="0"/>
                      </a:endParaRPr>
                    </a:p>
                  </a:txBody>
                  <a:tcPr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i="0" u="none" strike="noStrike" kern="0" cap="none" spc="0" baseline="0">
                        <a:solidFill>
                          <a:srgbClr val="000000"/>
                        </a:solidFill>
                        <a:latin typeface="Arial" charset="0"/>
                        <a:ea typeface="Arial" charset="0"/>
                        <a:cs typeface="Arial" charset="0"/>
                        <a:sym typeface="Arial" charset="0"/>
                      </a:endParaRPr>
                    </a:p>
                  </a:txBody>
                  <a:tcPr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400" b="0" i="0" u="none" strike="noStrike" kern="0" cap="none" spc="0" baseline="0">
                        <a:solidFill>
                          <a:srgbClr val="000000"/>
                        </a:solidFill>
                        <a:latin typeface="Arial" charset="0"/>
                        <a:ea typeface="Arial" charset="0"/>
                        <a:cs typeface="Arial" charset="0"/>
                        <a:sym typeface="Arial" charset="0"/>
                      </a:endParaRPr>
                    </a:p>
                  </a:txBody>
                  <a:tcPr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400" b="0" i="0" u="none" strike="noStrike" kern="0" cap="none" spc="0" baseline="0">
                        <a:solidFill>
                          <a:srgbClr val="000000"/>
                        </a:solidFill>
                        <a:latin typeface="Arial" charset="0"/>
                        <a:ea typeface="Arial" charset="0"/>
                        <a:cs typeface="Arial" charset="0"/>
                        <a:sym typeface="Arial" charset="0"/>
                      </a:endParaRPr>
                    </a:p>
                  </a:txBody>
                  <a:tcPr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矩形"/>
          <p:cNvSpPr>
            <a:spLocks/>
          </p:cNvSpPr>
          <p:nvPr/>
        </p:nvSpPr>
        <p:spPr>
          <a:xfrm>
            <a:off x="1206164" y="1460723"/>
            <a:ext cx="10280254" cy="45339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Domain of  Project – </a:t>
            </a:r>
            <a:r>
              <a:rPr lang="en-US" altLang="zh-CN" sz="2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Environment &amp; Sustainability</a:t>
            </a:r>
            <a:endParaRPr lang="zh-CN" altLang="en-US" sz="2400" b="1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25" name="矩形"/>
          <p:cNvSpPr>
            <a:spLocks/>
          </p:cNvSpPr>
          <p:nvPr/>
        </p:nvSpPr>
        <p:spPr>
          <a:xfrm>
            <a:off x="1206162" y="551965"/>
            <a:ext cx="9581177" cy="45339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Project Ti</a:t>
            </a:r>
            <a:r>
              <a:rPr lang="en-US" altLang="zh-CN" sz="2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tl</a:t>
            </a:r>
            <a:r>
              <a:rPr lang="en-US" altLang="zh-CN" sz="2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e –</a:t>
            </a:r>
            <a:r>
              <a:rPr lang="en-US" altLang="zh-CN" sz="2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 Eco Lifestyle Agent </a:t>
            </a:r>
            <a:endParaRPr lang="zh-CN" altLang="en-US" sz="2400" b="1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pic>
        <p:nvPicPr>
          <p:cNvPr id="26" name="图片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67113" y="3816520"/>
            <a:ext cx="813532" cy="105675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7" name="矩形"/>
          <p:cNvSpPr>
            <a:spLocks/>
          </p:cNvSpPr>
          <p:nvPr/>
        </p:nvSpPr>
        <p:spPr>
          <a:xfrm>
            <a:off x="1420730" y="3947997"/>
            <a:ext cx="1927689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Sajina Sajimon </a:t>
            </a:r>
            <a:endParaRPr lang="zh-CN" altLang="en-US" sz="1800" b="1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Lucida Sans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>
            <a:off x="5829768" y="4004708"/>
            <a:ext cx="2530310" cy="3295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sajina.snsr@gmail.com </a:t>
            </a:r>
            <a:endParaRPr lang="zh-CN" altLang="en-US" sz="1600" b="1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Lucida Sans" charset="0"/>
            </a:endParaRPr>
          </a:p>
        </p:txBody>
      </p:sp>
      <p:sp>
        <p:nvSpPr>
          <p:cNvPr id="29" name="矩形"/>
          <p:cNvSpPr>
            <a:spLocks/>
          </p:cNvSpPr>
          <p:nvPr/>
        </p:nvSpPr>
        <p:spPr>
          <a:xfrm>
            <a:off x="8598426" y="4012833"/>
            <a:ext cx="1835873" cy="3486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8848975334</a:t>
            </a:r>
            <a:endParaRPr lang="zh-CN" altLang="en-US" sz="1700" b="1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Lucida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414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"/>
          <p:cNvSpPr>
            <a:spLocks/>
          </p:cNvSpPr>
          <p:nvPr/>
        </p:nvSpPr>
        <p:spPr>
          <a:xfrm>
            <a:off x="576072" y="1234440"/>
            <a:ext cx="10607040" cy="407288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Problem Statement : </a:t>
            </a:r>
            <a:r>
              <a:rPr lang="en-US" altLang="zh-CN" sz="1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Eco Lifestyle Agent</a:t>
            </a:r>
            <a:endParaRPr lang="en-US" altLang="zh-CN" sz="1400" b="0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  <a:p>
            <a: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b="1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  <a:p>
            <a: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The Challenge</a:t>
            </a:r>
            <a:r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 </a:t>
            </a:r>
          </a:p>
          <a:p>
            <a: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Many people want to adopt sustainable lifestyles but lack access to reliable, practical, and personalized environmental guidance. Information on recycling, reducing plastic waste, eco-friendly products, sustainable travel, and government sustainability initiatives is often scattered across multiple sources.</a:t>
            </a:r>
          </a:p>
          <a:p>
            <a: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Without easy-to-access guidance, individuals may struggle to make environmentally responsible decisions in their daily lives.</a:t>
            </a:r>
            <a:endParaRPr lang="en-US" altLang="zh-CN" sz="1400" b="0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  <a:p>
            <a: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b="0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  <a:p>
            <a: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The Objective</a:t>
            </a:r>
            <a:r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 </a:t>
            </a:r>
          </a:p>
          <a:p>
            <a: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Build an </a:t>
            </a:r>
            <a:r>
              <a:rPr lang="en-US" altLang="zh-CN" sz="1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AI-powered Eco Lifestyle Agent</a:t>
            </a:r>
            <a:r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 that provides personalized sustainability recommendations and practical environmental guidance.</a:t>
            </a:r>
          </a:p>
          <a:p>
            <a: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The solution should::</a:t>
            </a:r>
          </a:p>
          <a:p>
            <a: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•     </a:t>
            </a:r>
            <a:r>
              <a:rPr lang="en-US" altLang="zh-CN" sz="1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Promote Eco-Friendly Habits  — </a:t>
            </a:r>
            <a:r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Encourage sustainable daily practices and environmentally conscious choices.</a:t>
            </a:r>
          </a:p>
          <a:p>
            <a: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•     </a:t>
            </a:r>
            <a:r>
              <a:rPr lang="en-US" altLang="zh-CN" sz="1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Plastic Reduction Guidance – </a:t>
            </a:r>
            <a:r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Help users reduce plastic consumption through practical alternatives.</a:t>
            </a:r>
          </a:p>
          <a:p>
            <a: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•     </a:t>
            </a:r>
            <a:r>
              <a:rPr lang="en-US" altLang="zh-CN" sz="1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Water &amp; Energy Conservation – </a:t>
            </a:r>
            <a:r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Provide actionable recommendations for saving water and electricity.</a:t>
            </a:r>
          </a:p>
          <a:p>
            <a: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•     </a:t>
            </a:r>
            <a:r>
              <a:rPr lang="en-US" altLang="zh-CN" sz="1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Sustainable Transportation – </a:t>
            </a:r>
            <a:r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Suggest eco-friendly travel and transportation options.</a:t>
            </a:r>
          </a:p>
          <a:p>
            <a: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•     </a:t>
            </a:r>
            <a:r>
              <a:rPr lang="en-US" altLang="zh-CN" sz="1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Eco-Friendly Product Recommendations –</a:t>
            </a:r>
            <a:r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 Recommend sustainable household and lifestyle products.</a:t>
            </a:r>
          </a:p>
          <a:p>
            <a: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•     </a:t>
            </a:r>
            <a:r>
              <a:rPr lang="en-US" altLang="zh-CN" sz="1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Government Sustainability Schemes – </a:t>
            </a:r>
            <a:r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Share information about sustainability-related initiatives and schemes.</a:t>
            </a:r>
          </a:p>
          <a:p>
            <a: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•     </a:t>
            </a:r>
            <a:r>
              <a:rPr lang="en-US" altLang="zh-CN" sz="1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Knowledge-Based Sustainability Guidance – </a:t>
            </a:r>
            <a:r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Retrieve and summarize information using a RAG-based knowledge base.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Lucida Sans" charset="0"/>
              <a:sym typeface="Arial" charset="0"/>
            </a:endParaRPr>
          </a:p>
        </p:txBody>
      </p:sp>
      <p:sp>
        <p:nvSpPr>
          <p:cNvPr id="33" name="矩形"/>
          <p:cNvSpPr>
            <a:spLocks/>
          </p:cNvSpPr>
          <p:nvPr/>
        </p:nvSpPr>
        <p:spPr>
          <a:xfrm>
            <a:off x="576072" y="704088"/>
            <a:ext cx="7214615" cy="45339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Problem Statement -</a:t>
            </a:r>
            <a:endParaRPr lang="zh-CN" altLang="en-US" sz="2400" b="1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876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"/>
          <p:cNvSpPr>
            <a:spLocks/>
          </p:cNvSpPr>
          <p:nvPr/>
        </p:nvSpPr>
        <p:spPr>
          <a:xfrm>
            <a:off x="667512" y="1165753"/>
            <a:ext cx="10607040" cy="33239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b="1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  <a:p>
            <a: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Tech Stack (Mandatory)</a:t>
            </a:r>
            <a:r>
              <a:rPr lang="en-US" altLang="zh-CN" sz="1400" b="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 </a:t>
            </a:r>
          </a:p>
          <a:p>
            <a: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b="0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b="0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Arial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Use</a:t>
            </a:r>
            <a:r>
              <a:rPr lang="en-US" altLang="zh-CN" sz="1400" b="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&gt;IBM </a:t>
            </a:r>
            <a:r>
              <a:rPr lang="en-US" altLang="zh-CN" sz="1400" b="0" i="0" u="none" strike="noStrike" kern="0" cap="none" spc="0" baseline="0" dirty="0" err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watsonx</a:t>
            </a:r>
            <a:r>
              <a:rPr lang="en-US" altLang="zh-CN" sz="1400" b="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 Orchestrate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&gt;GPT-OSS 120B (via AWS Bedrock)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&gt;IBM </a:t>
            </a:r>
            <a:r>
              <a:rPr lang="en-US" altLang="zh-CN" sz="1400" b="0" i="0" u="none" strike="noStrike" kern="0" cap="none" spc="0" baseline="0" dirty="0" err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watsonx</a:t>
            </a:r>
            <a:r>
              <a:rPr lang="en-US" altLang="zh-CN" sz="1400" b="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 AI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&gt;Retrieval-Augmented Generation (RAG)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&gt;Exa MCP Tools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&gt;</a:t>
            </a:r>
            <a:r>
              <a:rPr lang="en-US" altLang="zh-CN" sz="1400" b="0" i="0" u="none" strike="noStrike" kern="0" cap="none" spc="0" baseline="0" dirty="0" err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Trafiklab</a:t>
            </a:r>
            <a:r>
              <a:rPr lang="en-US" altLang="zh-CN" sz="1400" b="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zh-CN" sz="1400" b="0" i="0" u="none" strike="noStrike" kern="0" cap="none" spc="0" baseline="0" dirty="0" err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OpenAPI</a:t>
            </a:r>
            <a:endParaRPr lang="en-US" altLang="zh-CN" sz="1400" b="0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Arial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&gt;Netlify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b="0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Arial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Deployment</a:t>
            </a:r>
            <a:endParaRPr lang="en-US" altLang="zh-CN" sz="1400" b="1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Lucida Sans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I used IBM </a:t>
            </a:r>
            <a:r>
              <a:rPr lang="en-US" altLang="zh-CN" sz="1400" b="0" i="0" u="none" strike="noStrike" kern="0" cap="none" spc="0" baseline="0" dirty="0" err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watsonx</a:t>
            </a:r>
            <a:r>
              <a:rPr lang="en-US" altLang="zh-CN" sz="1400" b="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 Orchestrate Agent + IBM </a:t>
            </a:r>
            <a:r>
              <a:rPr lang="en-US" altLang="zh-CN" sz="1400" b="0" i="0" u="none" strike="noStrike" kern="0" cap="none" spc="0" baseline="0" dirty="0" err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watsonx</a:t>
            </a:r>
            <a:r>
              <a:rPr lang="en-US" altLang="zh-CN" sz="1400" b="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 AI + GPT-OSS 120B + RAG.</a:t>
            </a:r>
            <a:endParaRPr lang="zh-CN" altLang="en-US" sz="1400" b="0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37" name="矩形"/>
          <p:cNvSpPr>
            <a:spLocks/>
          </p:cNvSpPr>
          <p:nvPr/>
        </p:nvSpPr>
        <p:spPr>
          <a:xfrm>
            <a:off x="576072" y="704088"/>
            <a:ext cx="7214615" cy="45339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Technology Used </a:t>
            </a:r>
            <a:endParaRPr lang="zh-CN" altLang="en-US" sz="2400" b="1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508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"/>
          <p:cNvSpPr>
            <a:spLocks/>
          </p:cNvSpPr>
          <p:nvPr/>
        </p:nvSpPr>
        <p:spPr>
          <a:xfrm>
            <a:off x="576072" y="1234440"/>
            <a:ext cx="10941947" cy="8915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1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Proposed Solution: AI-Powered </a:t>
            </a:r>
            <a:r>
              <a:rPr lang="en-US" altLang="zh-CN" sz="18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Eco Lifestyle Agent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1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Lucida Sans" charset="0"/>
              <a:sym typeface="Arial" charset="0"/>
            </a:endParaRPr>
          </a:p>
        </p:txBody>
      </p:sp>
      <p:sp>
        <p:nvSpPr>
          <p:cNvPr id="41" name="矩形"/>
          <p:cNvSpPr>
            <a:spLocks/>
          </p:cNvSpPr>
          <p:nvPr/>
        </p:nvSpPr>
        <p:spPr>
          <a:xfrm>
            <a:off x="576072" y="704088"/>
            <a:ext cx="7214615" cy="45339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Proposed Solution -</a:t>
            </a:r>
            <a:endParaRPr lang="zh-CN" altLang="en-US" sz="2400" b="1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42" name="矩形"/>
          <p:cNvSpPr>
            <a:spLocks/>
          </p:cNvSpPr>
          <p:nvPr/>
        </p:nvSpPr>
        <p:spPr>
          <a:xfrm>
            <a:off x="546450" y="1904971"/>
            <a:ext cx="9374215" cy="440120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The proposed solution is an AI-powered Eco Lifestyle Agent built using IBM </a:t>
            </a:r>
            <a:r>
              <a:rPr lang="en-US" altLang="zh-CN" sz="1400" i="0" u="none" strike="noStrike" kern="0" cap="none" spc="0" baseline="0" dirty="0" err="1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watsonx</a:t>
            </a:r>
            <a:r>
              <a:rPr lang="en-US" altLang="zh-CN" sz="14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 Orchestrate, IBM </a:t>
            </a:r>
            <a:r>
              <a:rPr lang="en-US" altLang="zh-CN" sz="1400" i="0" u="none" strike="noStrike" kern="0" cap="none" spc="0" baseline="0" dirty="0" err="1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watsonx</a:t>
            </a:r>
            <a:r>
              <a:rPr lang="en-US" altLang="zh-CN" sz="14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 AI, GPT-OSS 120B, and Retrieval-Augmented Generation (RAG) to provide personalized sustainability guidance and environmentally responsible recommendations.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At its core, the solution uses a sustainability-focused knowledge base containing trusted environmental resources. The system retrieves relevant information and combines it with AI reasoning to generate accurate and actionable recommendations</a:t>
            </a:r>
            <a:r>
              <a:rPr lang="en-US" altLang="zh-CN" sz="14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i="0" u="sng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The system assists users with: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 dirty="0">
                <a:cs typeface="Lucida Sans" charset="0"/>
              </a:rPr>
              <a:t>&gt;</a:t>
            </a:r>
            <a:r>
              <a:rPr lang="en-US" altLang="zh-CN" sz="14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Plastic Reduction Guidance – </a:t>
            </a:r>
            <a:r>
              <a:rPr lang="en-US" altLang="zh-CN" sz="14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Provides practical alternatives to single-use plastics and encourages sustainable habits.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&gt;Sustainable Travel Guidance – </a:t>
            </a:r>
            <a:r>
              <a:rPr lang="en-US" altLang="zh-CN" sz="14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Suggests environmentally friendly transportation options and sustainable travel practices.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&gt;Recycling &amp; Waste Management – </a:t>
            </a:r>
            <a:r>
              <a:rPr lang="en-US" altLang="zh-CN" sz="14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Helps users understand recycling methods, e-waste disposal, and waste segregation.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&gt;Water &amp; Energy Conservation – </a:t>
            </a:r>
            <a:r>
              <a:rPr lang="en-US" altLang="zh-CN" sz="14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Recommends ways to reduce household water and electricity consumption.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&gt;Eco-Friendly Product Suggestions – </a:t>
            </a:r>
            <a:r>
              <a:rPr lang="en-US" altLang="zh-CN" sz="14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Recommends environmentally responsible products and alternatives.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&gt;Government Sustainability Schemes – </a:t>
            </a:r>
            <a:r>
              <a:rPr lang="en-US" altLang="zh-CN" sz="14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Shares information about sustainability-related initiatives when available.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Lucida Sans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The solution integrates Exa MCP tools for web information retrieval and </a:t>
            </a:r>
            <a:r>
              <a:rPr lang="en-US" altLang="zh-CN" sz="1400" i="0" u="none" strike="noStrike" kern="0" cap="none" spc="0" baseline="0" dirty="0" err="1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Trafiklab</a:t>
            </a:r>
            <a:r>
              <a:rPr lang="en-US" altLang="zh-CN" sz="14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 APIs for transportation-related information. Overall, the system promotes sustainable living through practical recommendations, reliable information retrieval, and personalized environmental guidance</a:t>
            </a:r>
            <a:r>
              <a:rPr lang="en-US" altLang="zh-CN" sz="14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.</a:t>
            </a:r>
            <a:endParaRPr lang="zh-CN" altLang="en-US" sz="1400" b="1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Lucida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779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"/>
          <p:cNvSpPr>
            <a:spLocks/>
          </p:cNvSpPr>
          <p:nvPr/>
        </p:nvSpPr>
        <p:spPr>
          <a:xfrm>
            <a:off x="537590" y="323239"/>
            <a:ext cx="5908929" cy="4485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C</a:t>
            </a:r>
            <a:r>
              <a:rPr lang="en-US" altLang="zh-CN" sz="2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Times New Roman" charset="0"/>
              </a:rPr>
              <a:t>o</a:t>
            </a:r>
            <a:r>
              <a:rPr lang="en-US" altLang="zh-CN" sz="2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mponen</a:t>
            </a:r>
            <a:r>
              <a:rPr lang="en-US" altLang="zh-CN" sz="2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Times New Roman" charset="0"/>
              </a:rPr>
              <a:t>t Used -</a:t>
            </a:r>
            <a:endParaRPr lang="zh-CN" altLang="en-US" sz="2400" b="1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Times New Roman" charset="0"/>
            </a:endParaRPr>
          </a:p>
        </p:txBody>
      </p:sp>
      <p:sp>
        <p:nvSpPr>
          <p:cNvPr id="46" name="矩形"/>
          <p:cNvSpPr>
            <a:spLocks/>
          </p:cNvSpPr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</p:sp>
      <p:sp>
        <p:nvSpPr>
          <p:cNvPr id="47" name="矩形"/>
          <p:cNvSpPr>
            <a:spLocks/>
          </p:cNvSpPr>
          <p:nvPr/>
        </p:nvSpPr>
        <p:spPr>
          <a:xfrm>
            <a:off x="1782604" y="7100213"/>
            <a:ext cx="3104198" cy="73187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</p:sp>
      <p:sp>
        <p:nvSpPr>
          <p:cNvPr id="48" name="矩形"/>
          <p:cNvSpPr>
            <a:spLocks/>
          </p:cNvSpPr>
          <p:nvPr/>
        </p:nvSpPr>
        <p:spPr>
          <a:xfrm>
            <a:off x="5732382" y="6784578"/>
            <a:ext cx="1793913" cy="2241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</p:sp>
      <p:sp>
        <p:nvSpPr>
          <p:cNvPr id="49" name="矩形"/>
          <p:cNvSpPr>
            <a:spLocks/>
          </p:cNvSpPr>
          <p:nvPr/>
        </p:nvSpPr>
        <p:spPr>
          <a:xfrm>
            <a:off x="5077301" y="7100213"/>
            <a:ext cx="3104198" cy="73187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</p:sp>
      <p:sp>
        <p:nvSpPr>
          <p:cNvPr id="50" name="矩形"/>
          <p:cNvSpPr>
            <a:spLocks/>
          </p:cNvSpPr>
          <p:nvPr/>
        </p:nvSpPr>
        <p:spPr>
          <a:xfrm>
            <a:off x="9027081" y="6784578"/>
            <a:ext cx="1793911" cy="2241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</p:sp>
      <p:sp>
        <p:nvSpPr>
          <p:cNvPr id="51" name="矩形"/>
          <p:cNvSpPr>
            <a:spLocks/>
          </p:cNvSpPr>
          <p:nvPr/>
        </p:nvSpPr>
        <p:spPr>
          <a:xfrm>
            <a:off x="8371999" y="7100213"/>
            <a:ext cx="3104198" cy="73187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</p:sp>
      <p:sp>
        <p:nvSpPr>
          <p:cNvPr id="52" name="矩形"/>
          <p:cNvSpPr>
            <a:spLocks/>
          </p:cNvSpPr>
          <p:nvPr/>
        </p:nvSpPr>
        <p:spPr>
          <a:xfrm>
            <a:off x="474822" y="863187"/>
            <a:ext cx="9402806" cy="506292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IBM </a:t>
            </a:r>
            <a:r>
              <a:rPr lang="en-US" altLang="zh-CN" sz="1700" b="1" i="0" u="none" strike="noStrike" kern="0" cap="none" spc="0" baseline="0" dirty="0" err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watsonx</a:t>
            </a:r>
            <a:r>
              <a:rPr lang="en-US" altLang="zh-CN" sz="17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 Orchestrate Components Used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700" b="1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Arial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1) Chat Interface – </a:t>
            </a:r>
            <a:r>
              <a:rPr lang="en-US" altLang="zh-CN" sz="17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Interface where users enter sustainability-related questions and requests.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2) GPT-OSS 120B Model – </a:t>
            </a:r>
            <a:r>
              <a:rPr lang="en-US" altLang="zh-CN" sz="17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Processes user input and generates personalized sustainability recommendations</a:t>
            </a:r>
            <a:r>
              <a:rPr lang="en-US" altLang="zh-CN" sz="17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3) Knowledge Base – </a:t>
            </a:r>
            <a:r>
              <a:rPr lang="en-US" altLang="zh-CN" sz="17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Stores and retrieves environmental knowledge from: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     ECO_FRIENDLY.docx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     Eco-Lifestyle.txt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4) Exa MCP Tools –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     </a:t>
            </a:r>
            <a:r>
              <a:rPr lang="en-US" altLang="zh-CN" sz="1700" i="0" u="none" strike="noStrike" kern="0" cap="none" spc="0" baseline="0" dirty="0" err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web_search_exa</a:t>
            </a:r>
            <a:endParaRPr lang="en-US" altLang="zh-CN" sz="1700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Arial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     </a:t>
            </a:r>
            <a:r>
              <a:rPr lang="en-US" altLang="zh-CN" sz="1700" i="0" u="none" strike="noStrike" kern="0" cap="none" spc="0" baseline="0" dirty="0" err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web_fetch_exa</a:t>
            </a:r>
            <a:endParaRPr lang="en-US" altLang="zh-CN" sz="1700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Arial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5) </a:t>
            </a:r>
            <a:r>
              <a:rPr lang="en-US" altLang="zh-CN" sz="1700" b="1" i="0" u="none" strike="noStrike" kern="0" cap="none" spc="0" baseline="0" dirty="0" err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Trafiklab</a:t>
            </a:r>
            <a:r>
              <a:rPr lang="en-US" altLang="zh-CN" sz="17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zh-CN" sz="1700" b="1" i="0" u="none" strike="noStrike" kern="0" cap="none" spc="0" baseline="0" dirty="0" err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OpenAPI</a:t>
            </a:r>
            <a:r>
              <a:rPr lang="en-US" altLang="zh-CN" sz="17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 – </a:t>
            </a:r>
            <a:r>
              <a:rPr lang="en-US" altLang="zh-CN" sz="17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Provides transportation-related information.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6) Agent Instructions – </a:t>
            </a:r>
            <a:r>
              <a:rPr lang="en-US" altLang="zh-CN" sz="17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Controls sustainability-focused behavior and knowledge-base-first responses.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7) Web Deployment – </a:t>
            </a:r>
            <a:r>
              <a:rPr lang="en-US" altLang="zh-CN" sz="17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Netlify-hosted user interface integrated with IBM </a:t>
            </a:r>
            <a:r>
              <a:rPr lang="en-US" altLang="zh-CN" sz="1700" i="0" u="none" strike="noStrike" kern="0" cap="none" spc="0" baseline="0" dirty="0" err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watsonx</a:t>
            </a:r>
            <a:r>
              <a:rPr lang="en-US" altLang="zh-CN" sz="17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 Orchestrate.</a:t>
            </a:r>
            <a:endParaRPr lang="en-US" altLang="zh-CN" sz="1700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700" b="1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700" b="1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700" b="1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 </a:t>
            </a:r>
            <a:endParaRPr lang="zh-CN" altLang="en-US" sz="1700" b="1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340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"/>
          <p:cNvSpPr>
            <a:spLocks/>
          </p:cNvSpPr>
          <p:nvPr/>
        </p:nvSpPr>
        <p:spPr>
          <a:xfrm>
            <a:off x="585214" y="380388"/>
            <a:ext cx="5908929" cy="4485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9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Work</a:t>
            </a:r>
            <a:r>
              <a:rPr lang="en-US" altLang="zh-CN" sz="29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Times New Roman" charset="0"/>
              </a:rPr>
              <a:t>flow -</a:t>
            </a:r>
            <a:endParaRPr lang="zh-CN" altLang="en-US" sz="2900" b="1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Times New Roman" charset="0"/>
            </a:endParaRPr>
          </a:p>
        </p:txBody>
      </p:sp>
      <p:sp>
        <p:nvSpPr>
          <p:cNvPr id="56" name="矩形"/>
          <p:cNvSpPr>
            <a:spLocks/>
          </p:cNvSpPr>
          <p:nvPr/>
        </p:nvSpPr>
        <p:spPr>
          <a:xfrm>
            <a:off x="758463" y="1334538"/>
            <a:ext cx="4951158" cy="470898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Workflow: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Droid Sans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User Query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↓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IBM </a:t>
            </a:r>
            <a:r>
              <a:rPr lang="en-US" altLang="zh-CN" sz="2000" i="1" u="none" strike="noStrike" kern="0" cap="none" spc="0" baseline="0" dirty="0" err="1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watsonx</a:t>
            </a:r>
            <a:r>
              <a:rPr lang="en-US" altLang="zh-CN" sz="20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 Orchestrate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↓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Knowledge Base Search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↓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Exa Web Search (if required)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↓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GPT-OSS 120B Processing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↓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Eco-Friendly Recommendation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↓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User Response</a:t>
            </a:r>
            <a:endParaRPr lang="zh-CN" altLang="en-US" sz="2000" i="1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Lucida Sans" charset="0"/>
            </a:endParaRPr>
          </a:p>
        </p:txBody>
      </p:sp>
      <p:sp>
        <p:nvSpPr>
          <p:cNvPr id="57" name="矩形"/>
          <p:cNvSpPr>
            <a:spLocks/>
          </p:cNvSpPr>
          <p:nvPr/>
        </p:nvSpPr>
        <p:spPr>
          <a:xfrm>
            <a:off x="5674344" y="3010912"/>
            <a:ext cx="857235" cy="30099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58" name="矩形"/>
          <p:cNvSpPr>
            <a:spLocks/>
          </p:cNvSpPr>
          <p:nvPr/>
        </p:nvSpPr>
        <p:spPr>
          <a:xfrm>
            <a:off x="6249428" y="472561"/>
            <a:ext cx="5908928" cy="44850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 marL="0" indent="0" algn="l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900" b="1" i="0" u="none" strike="noStrike" kern="0" cap="none" spc="0" baseline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Architecture blueprint</a:t>
            </a:r>
            <a:endParaRPr lang="zh-CN" altLang="en-US" sz="2900" b="0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59" name="矩形"/>
          <p:cNvSpPr>
            <a:spLocks/>
          </p:cNvSpPr>
          <p:nvPr/>
        </p:nvSpPr>
        <p:spPr>
          <a:xfrm>
            <a:off x="5864841" y="3201409"/>
            <a:ext cx="857235" cy="30099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60" name="矩形"/>
          <p:cNvSpPr>
            <a:spLocks/>
          </p:cNvSpPr>
          <p:nvPr/>
        </p:nvSpPr>
        <p:spPr>
          <a:xfrm>
            <a:off x="6428571" y="1305963"/>
            <a:ext cx="7002532" cy="493981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User</a:t>
            </a:r>
          </a:p>
          <a:p>
            <a:pPr marL="0" indent="0" algn="l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↓</a:t>
            </a:r>
          </a:p>
          <a:p>
            <a:pPr marL="0" indent="0" algn="l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Netlify Web Interface</a:t>
            </a:r>
          </a:p>
          <a:p>
            <a:pPr marL="0" indent="0" algn="l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↓</a:t>
            </a:r>
          </a:p>
          <a:p>
            <a:pPr marL="0" indent="0" algn="l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IBM </a:t>
            </a:r>
            <a:r>
              <a:rPr lang="en-US" altLang="zh-CN" sz="2100" i="1" u="none" strike="noStrike" kern="0" cap="none" spc="0" baseline="0" dirty="0" err="1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watsonx</a:t>
            </a:r>
            <a:r>
              <a:rPr lang="en-US" altLang="zh-CN" sz="21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 Orchestrate</a:t>
            </a:r>
          </a:p>
          <a:p>
            <a:pPr marL="0" indent="0" algn="l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↓</a:t>
            </a:r>
          </a:p>
          <a:p>
            <a:pPr marL="0" indent="0" algn="l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GPT-OSS 120B</a:t>
            </a:r>
          </a:p>
          <a:p>
            <a:pPr marL="0" indent="0" algn="l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↓</a:t>
            </a:r>
          </a:p>
          <a:p>
            <a:pPr marL="0" indent="0" algn="l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Knowledge Base</a:t>
            </a:r>
          </a:p>
          <a:p>
            <a:pPr marL="0" indent="0" algn="l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↓</a:t>
            </a:r>
          </a:p>
          <a:p>
            <a:pPr marL="0" indent="0" algn="l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Exa MCP Tools</a:t>
            </a:r>
          </a:p>
          <a:p>
            <a:pPr marL="0" indent="0" algn="l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↓</a:t>
            </a:r>
          </a:p>
          <a:p>
            <a:pPr marL="0" indent="0" algn="l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i="1" u="none" strike="noStrike" kern="0" cap="none" spc="0" baseline="0" dirty="0" err="1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Trafiklab</a:t>
            </a:r>
            <a:r>
              <a:rPr lang="en-US" altLang="zh-CN" sz="21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 API</a:t>
            </a:r>
          </a:p>
          <a:p>
            <a:pPr marL="0" indent="0" algn="l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↓</a:t>
            </a:r>
          </a:p>
          <a:p>
            <a:pPr marL="0" indent="0" algn="l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i="1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Droid Sans" charset="0"/>
              </a:rPr>
              <a:t>Personalized Sustainability Response</a:t>
            </a:r>
            <a:endParaRPr lang="zh-CN" altLang="en-US" sz="2100" i="1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237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文本框"/>
          <p:cNvSpPr txBox="1">
            <a:spLocks/>
          </p:cNvSpPr>
          <p:nvPr/>
        </p:nvSpPr>
        <p:spPr>
          <a:xfrm>
            <a:off x="238801" y="187775"/>
            <a:ext cx="5547637" cy="55399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Lucida Sans" charset="0"/>
              </a:rPr>
              <a:t>Screenshot of the Agent </a:t>
            </a:r>
            <a:endParaRPr lang="zh-CN" altLang="en-US" sz="3000" b="1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Lucida Sans" charset="0"/>
            </a:endParaRPr>
          </a:p>
        </p:txBody>
      </p:sp>
      <p:sp>
        <p:nvSpPr>
          <p:cNvPr id="93" name="文本框"/>
          <p:cNvSpPr txBox="1">
            <a:spLocks/>
          </p:cNvSpPr>
          <p:nvPr/>
        </p:nvSpPr>
        <p:spPr>
          <a:xfrm>
            <a:off x="5677494" y="3007132"/>
            <a:ext cx="857236" cy="30099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Lucida Sans" charset="0"/>
            </a:endParaRPr>
          </a:p>
        </p:txBody>
      </p:sp>
      <p:pic>
        <p:nvPicPr>
          <p:cNvPr id="94" name="图片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1525" y="811615"/>
            <a:ext cx="10844656" cy="581460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664332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19093" y="714364"/>
            <a:ext cx="5016886" cy="53141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96" name="图片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67288" y="647690"/>
            <a:ext cx="1788695" cy="19262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97" name="图片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676813" y="2657434"/>
            <a:ext cx="1771565" cy="187654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98" name="图片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676813" y="4733853"/>
            <a:ext cx="1734122" cy="15938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99" name="图片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791331" y="501582"/>
            <a:ext cx="1771873" cy="102444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100" name="图片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772281" y="1628750"/>
            <a:ext cx="1736042" cy="158616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101" name="图片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819906" y="3305124"/>
            <a:ext cx="1650178" cy="162693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102" name="图片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819906" y="5101802"/>
            <a:ext cx="1643216" cy="11834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103" name="图片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9736122" y="429446"/>
            <a:ext cx="2085999" cy="13497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104" name="图片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9715352" y="1914495"/>
            <a:ext cx="1978368" cy="18828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105" name="图片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9524855" y="3933765"/>
            <a:ext cx="2227096" cy="25611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744962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图片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71985" y="1167493"/>
            <a:ext cx="3015341" cy="452301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</p:pic>
      <p:sp>
        <p:nvSpPr>
          <p:cNvPr id="68" name="矩形"/>
          <p:cNvSpPr>
            <a:spLocks/>
          </p:cNvSpPr>
          <p:nvPr/>
        </p:nvSpPr>
        <p:spPr>
          <a:xfrm>
            <a:off x="475487" y="283464"/>
            <a:ext cx="9317736" cy="5772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Role of Agentic AI in the solution </a:t>
            </a:r>
            <a:endParaRPr lang="zh-CN" altLang="en-US" sz="3200" b="1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69" name="矩形"/>
          <p:cNvSpPr>
            <a:spLocks/>
          </p:cNvSpPr>
          <p:nvPr/>
        </p:nvSpPr>
        <p:spPr>
          <a:xfrm>
            <a:off x="707514" y="1415139"/>
            <a:ext cx="7439058" cy="453970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Role of Agentic AI in Eco Lifestyle Agent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700" b="1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Arial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Agentic AI enables the Eco Lifestyle Agent to function as an intelligent sustainability assistant rather than a traditional chatbot.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The agent can understand user intent, retrieve information from its environmental knowledge base, utilize connected tools when required, and generate personalized recommendations.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Agentic AI allows the system to: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&gt;Understand sustainability-related questions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&gt;Search the environmental knowledge base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&gt;Retrieve relevant sustainability information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&gt;Use external tools when necessary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&gt;Generate personalized eco-friendly recommendations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&gt;Adapt responses based on user context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This approach enables proactive, transparent, and reliable environmental guidance while encouraging sustainable decision-making and eco-conscious behavior.</a:t>
            </a:r>
            <a:endParaRPr lang="zh-CN" altLang="en-US" sz="1700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Lucida Sans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035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"/>
          <p:cNvSpPr>
            <a:spLocks/>
          </p:cNvSpPr>
          <p:nvPr/>
        </p:nvSpPr>
        <p:spPr>
          <a:xfrm>
            <a:off x="777240" y="484631"/>
            <a:ext cx="7123176" cy="45339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Novelty and Uniqueness</a:t>
            </a:r>
            <a:endParaRPr lang="zh-CN" altLang="en-US" sz="2400" b="1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73" name="矩形"/>
          <p:cNvSpPr>
            <a:spLocks/>
          </p:cNvSpPr>
          <p:nvPr/>
        </p:nvSpPr>
        <p:spPr>
          <a:xfrm>
            <a:off x="777240" y="1249871"/>
            <a:ext cx="11301984" cy="47705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The proposed Eco Lifestyle Agent combines Agentic AI, RAG, environmental knowledge retrieval, and personalized recommendations into a single intelligent sustainability platform.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&gt;Knowledge-Grounded Sustainability Guidance – </a:t>
            </a:r>
            <a:r>
              <a:rPr lang="en-US" altLang="zh-CN" sz="19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Uses RAG to provide accurate and reliable sustainability recommendations.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&gt;Personalized Eco Recommendations – </a:t>
            </a:r>
            <a:r>
              <a:rPr lang="en-US" altLang="zh-CN" sz="19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Tailors responses according to user needs and sustainability goals.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&gt;Real-Time Information Retrieval – </a:t>
            </a:r>
            <a:r>
              <a:rPr lang="en-US" altLang="zh-CN" sz="19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Uses Exa MCP tools to access current information when necessary.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&gt;Transparent Information Usage – </a:t>
            </a:r>
            <a:r>
              <a:rPr lang="en-US" altLang="zh-CN" sz="19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Clearly distinguishes retrieved knowledge from general sustainability advice.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&gt;Practical Action-Oriented Responses – </a:t>
            </a:r>
            <a:r>
              <a:rPr lang="en-US" altLang="zh-CN" sz="19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Encourages small daily actions that create meaningful environmental impact.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&gt;Accessible Sustainability Education – </a:t>
            </a:r>
            <a:r>
              <a:rPr lang="en-US" altLang="zh-CN" sz="190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Makes eco-friendly living easier through natural language interaction.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00" b="1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This makes the solution a practical, intelligent, and environmentally focused digital sustainability assistant.</a:t>
            </a:r>
            <a:endParaRPr lang="zh-CN" altLang="en-US" sz="1900" b="1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Lucida Sans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545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矩形"/>
          <p:cNvSpPr>
            <a:spLocks/>
          </p:cNvSpPr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Times New Roman" charset="0"/>
              </a:rPr>
              <a:t>Git Hub Link</a:t>
            </a:r>
            <a:endParaRPr lang="zh-CN" altLang="en-US" sz="2400" b="1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Times New Roman" charset="0"/>
            </a:endParaRPr>
          </a:p>
        </p:txBody>
      </p:sp>
      <p:sp>
        <p:nvSpPr>
          <p:cNvPr id="77" name="矩形"/>
          <p:cNvSpPr>
            <a:spLocks/>
          </p:cNvSpPr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300" b="1" i="0" u="none" strike="noStrike" kern="0" cap="none" spc="0" baseline="0" dirty="0" err="1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Github</a:t>
            </a:r>
            <a:r>
              <a:rPr lang="en-US" altLang="zh-CN" sz="2300" b="1" i="0" u="none" strike="noStrike" kern="0" cap="none" spc="0" baseline="0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 URL</a:t>
            </a:r>
          </a:p>
          <a:p>
            <a:pPr marL="0" indent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300" b="1" i="0" u="none" strike="noStrike" kern="0" cap="none" spc="0" baseline="0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Repository URL:</a:t>
            </a:r>
          </a:p>
          <a:p>
            <a:pPr marL="0" indent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300" i="0" u="none" strike="noStrike" kern="0" cap="none" spc="0" baseline="0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https://github.com/iampixelbloom/Eco-Lifestyle-Agent</a:t>
            </a:r>
          </a:p>
          <a:p>
            <a:pPr marL="0" indent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300" b="1" i="0" u="none" strike="noStrike" kern="0" cap="none" spc="0" baseline="0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Live Demo</a:t>
            </a:r>
          </a:p>
          <a:p>
            <a:pPr marL="0" indent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300" i="0" u="none" strike="noStrike" kern="0" cap="none" spc="0" baseline="0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https://ecolifestyleagent.netlify.app/</a:t>
            </a:r>
            <a:endParaRPr lang="zh-CN" altLang="en-US" sz="2300" i="0" u="none" strike="noStrike" kern="0" cap="none" spc="0" baseline="0" dirty="0">
              <a:solidFill>
                <a:srgbClr val="000000"/>
              </a:solidFill>
              <a:latin typeface="Times New Roman" charset="0"/>
              <a:ea typeface="Times New Roman" charset="0"/>
              <a:cs typeface="Times New Roman" charset="0"/>
              <a:sym typeface="Times New Roman" charset="0"/>
            </a:endParaRPr>
          </a:p>
        </p:txBody>
      </p:sp>
      <p:sp>
        <p:nvSpPr>
          <p:cNvPr id="78" name="矩形"/>
          <p:cNvSpPr>
            <a:spLocks/>
          </p:cNvSpPr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0" cap="none" spc="0" baseline="0">
                <a:solidFill>
                  <a:srgbClr val="2B3541"/>
                </a:solidFill>
                <a:latin typeface="Times New Roman" charset="0"/>
                <a:ea typeface="Times New Roman" charset="0"/>
                <a:cs typeface="Times New Roman" charset="0"/>
                <a:sym typeface="Times New Roman" charset="0"/>
              </a:rPr>
              <a:t>·</a:t>
            </a:r>
            <a:endParaRPr lang="zh-CN" altLang="en-US" sz="1850" b="0" i="0" u="none" strike="noStrike" kern="0" cap="none" spc="0" baseline="0">
              <a:solidFill>
                <a:srgbClr val="000000"/>
              </a:solidFill>
              <a:latin typeface="Times New Roman" charset="0"/>
              <a:ea typeface="Times New Roman" charset="0"/>
              <a:cs typeface="Times New Roman" charset="0"/>
              <a:sym typeface="Times New Roman" charset="0"/>
            </a:endParaRPr>
          </a:p>
        </p:txBody>
      </p:sp>
      <p:sp>
        <p:nvSpPr>
          <p:cNvPr id="79" name="矩形"/>
          <p:cNvSpPr>
            <a:spLocks/>
          </p:cNvSpPr>
          <p:nvPr/>
        </p:nvSpPr>
        <p:spPr>
          <a:xfrm>
            <a:off x="1218724" y="5430713"/>
            <a:ext cx="7468553" cy="38302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0" cap="none" spc="0" baseline="0">
                <a:solidFill>
                  <a:srgbClr val="2B3541"/>
                </a:solidFill>
                <a:latin typeface="Times New Roman" charset="0"/>
                <a:ea typeface="Times New Roman" charset="0"/>
                <a:cs typeface="Times New Roman" charset="0"/>
                <a:sym typeface="Times New Roman" charset="0"/>
              </a:rPr>
              <a:t>·</a:t>
            </a:r>
            <a:endParaRPr lang="zh-CN" altLang="en-US" sz="1850" b="0" i="0" u="none" strike="noStrike" kern="0" cap="none" spc="0" baseline="0">
              <a:solidFill>
                <a:srgbClr val="000000"/>
              </a:solidFill>
              <a:latin typeface="Times New Roman" charset="0"/>
              <a:ea typeface="Times New Roman" charset="0"/>
              <a:cs typeface="Times New Roman" charset="0"/>
              <a:sym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"/>
          <p:cNvSpPr>
            <a:spLocks/>
          </p:cNvSpPr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Times New Roman" charset="0"/>
              </a:rPr>
              <a:t>Future Scope </a:t>
            </a:r>
            <a:endParaRPr lang="zh-CN" altLang="en-US" sz="2400" b="1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Times New Roman" charset="0"/>
            </a:endParaRPr>
          </a:p>
        </p:txBody>
      </p:sp>
      <p:sp>
        <p:nvSpPr>
          <p:cNvPr id="83" name="矩形"/>
          <p:cNvSpPr>
            <a:spLocks/>
          </p:cNvSpPr>
          <p:nvPr/>
        </p:nvSpPr>
        <p:spPr>
          <a:xfrm>
            <a:off x="1218724" y="1221714"/>
            <a:ext cx="8817651" cy="427700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0" cap="none" spc="0" baseline="0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Future Scope</a:t>
            </a:r>
          </a:p>
          <a:p>
            <a:pPr marL="0" indent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0" cap="none" spc="0" baseline="0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1. Carbon Footprint Tracking</a:t>
            </a:r>
          </a:p>
          <a:p>
            <a:pPr marL="0" indent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i="0" u="none" strike="noStrike" kern="0" cap="none" spc="0" baseline="0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The system can estimate and monitor individual environmental impact, helping users understand how their daily choices affect sustainability goals.</a:t>
            </a:r>
          </a:p>
          <a:p>
            <a:pPr marL="0" indent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0" cap="none" spc="0" baseline="0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2. Smart Home Integration</a:t>
            </a:r>
          </a:p>
          <a:p>
            <a:pPr marL="0" indent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i="0" u="none" strike="noStrike" kern="0" cap="none" spc="0" baseline="0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Integration with IoT devices can enable automated monitoring of energy and water consumption for more personalized sustainability recommendations.</a:t>
            </a:r>
          </a:p>
          <a:p>
            <a:pPr marL="0" indent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0" cap="none" spc="0" baseline="0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3. Location-Based Sustainability Guidance</a:t>
            </a:r>
          </a:p>
          <a:p>
            <a:pPr marL="0" indent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i="0" u="none" strike="noStrike" kern="0" cap="none" spc="0" baseline="0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Provide local recycling information, environmental programs, and sustainability recommendations based on user location.</a:t>
            </a:r>
          </a:p>
          <a:p>
            <a:pPr marL="0" indent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0" cap="none" spc="0" baseline="0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4. Personalized Sustainability Dashboard</a:t>
            </a:r>
          </a:p>
          <a:p>
            <a:pPr marL="0" indent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i="0" u="none" strike="noStrike" kern="0" cap="none" spc="0" baseline="0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Track eco-friendly habits, environmental impact, and sustainability progress over time.</a:t>
            </a:r>
          </a:p>
          <a:p>
            <a:pPr marL="0" indent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0" cap="none" spc="0" baseline="0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5. Mobile Application</a:t>
            </a:r>
          </a:p>
          <a:p>
            <a:pPr marL="0" indent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i="0" u="none" strike="noStrike" kern="0" cap="none" spc="0" baseline="0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Develop a dedicated mobile application for easier accessibility and continuous engagement.</a:t>
            </a:r>
          </a:p>
          <a:p>
            <a:pPr marL="0" indent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0" cap="none" spc="0" baseline="0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6. Multilingual Support</a:t>
            </a:r>
          </a:p>
          <a:p>
            <a:pPr marL="0" indent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i="0" u="none" strike="noStrike" kern="0" cap="none" spc="0" baseline="0" dirty="0"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rPr>
              <a:t>Support multiple languages to improve accessibility and reach a wider audience.</a:t>
            </a:r>
            <a:endParaRPr lang="zh-CN" altLang="en-US" sz="1300" i="0" u="none" strike="noStrike" kern="0" cap="none" spc="0" baseline="0" dirty="0">
              <a:solidFill>
                <a:srgbClr val="000000"/>
              </a:solidFill>
              <a:latin typeface="Times New Roman" charset="0"/>
              <a:ea typeface="Times New Roman" charset="0"/>
              <a:cs typeface="Times New Roman" charset="0"/>
              <a:sym typeface="Times New Roman" charset="0"/>
            </a:endParaRPr>
          </a:p>
        </p:txBody>
      </p:sp>
      <p:sp>
        <p:nvSpPr>
          <p:cNvPr id="84" name="矩形"/>
          <p:cNvSpPr>
            <a:spLocks/>
          </p:cNvSpPr>
          <p:nvPr/>
        </p:nvSpPr>
        <p:spPr>
          <a:xfrm>
            <a:off x="1218724" y="3360215"/>
            <a:ext cx="7468553" cy="76604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0" cap="none" spc="0" baseline="0">
                <a:solidFill>
                  <a:srgbClr val="2B3541"/>
                </a:solidFill>
                <a:latin typeface="Times New Roman" charset="0"/>
                <a:ea typeface="Times New Roman" charset="0"/>
                <a:cs typeface="Times New Roman" charset="0"/>
                <a:sym typeface="Times New Roman" charset="0"/>
              </a:rPr>
              <a:t>·</a:t>
            </a:r>
            <a:endParaRPr lang="zh-CN" altLang="en-US" sz="1850" b="0" i="0" u="none" strike="noStrike" kern="0" cap="none" spc="0" baseline="0">
              <a:solidFill>
                <a:srgbClr val="000000"/>
              </a:solidFill>
              <a:latin typeface="Times New Roman" charset="0"/>
              <a:ea typeface="Times New Roman" charset="0"/>
              <a:cs typeface="Times New Roman" charset="0"/>
              <a:sym typeface="Times New Roman" charset="0"/>
            </a:endParaRPr>
          </a:p>
        </p:txBody>
      </p:sp>
      <p:sp>
        <p:nvSpPr>
          <p:cNvPr id="85" name="矩形"/>
          <p:cNvSpPr>
            <a:spLocks/>
          </p:cNvSpPr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0" cap="none" spc="0" baseline="0">
                <a:solidFill>
                  <a:srgbClr val="2B3541"/>
                </a:solidFill>
                <a:latin typeface="Times New Roman" charset="0"/>
                <a:ea typeface="Times New Roman" charset="0"/>
                <a:cs typeface="Times New Roman" charset="0"/>
                <a:sym typeface="Times New Roman" charset="0"/>
              </a:rPr>
              <a:t>·</a:t>
            </a:r>
            <a:endParaRPr lang="zh-CN" altLang="en-US" sz="1850" b="0" i="0" u="none" strike="noStrike" kern="0" cap="none" spc="0" baseline="0">
              <a:solidFill>
                <a:srgbClr val="000000"/>
              </a:solidFill>
              <a:latin typeface="Times New Roman" charset="0"/>
              <a:ea typeface="Times New Roman" charset="0"/>
              <a:cs typeface="Times New Roman" charset="0"/>
              <a:sym typeface="Times New Roman" charset="0"/>
            </a:endParaRPr>
          </a:p>
        </p:txBody>
      </p:sp>
      <p:sp>
        <p:nvSpPr>
          <p:cNvPr id="86" name="矩形"/>
          <p:cNvSpPr>
            <a:spLocks/>
          </p:cNvSpPr>
          <p:nvPr/>
        </p:nvSpPr>
        <p:spPr>
          <a:xfrm>
            <a:off x="1218724" y="5430713"/>
            <a:ext cx="7468553" cy="38302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0" cap="none" spc="0" baseline="0">
                <a:solidFill>
                  <a:srgbClr val="2B3541"/>
                </a:solidFill>
                <a:latin typeface="Times New Roman" charset="0"/>
                <a:ea typeface="Times New Roman" charset="0"/>
                <a:cs typeface="Times New Roman" charset="0"/>
                <a:sym typeface="Times New Roman" charset="0"/>
              </a:rPr>
              <a:t>·</a:t>
            </a:r>
            <a:endParaRPr lang="zh-CN" altLang="en-US" sz="1850" b="0" i="0" u="none" strike="noStrike" kern="0" cap="none" spc="0" baseline="0">
              <a:solidFill>
                <a:srgbClr val="000000"/>
              </a:solidFill>
              <a:latin typeface="Times New Roman" charset="0"/>
              <a:ea typeface="Times New Roman" charset="0"/>
              <a:cs typeface="Times New Roman" charset="0"/>
              <a:sym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94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图片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</p:pic>
    </p:spTree>
    <p:extLst>
      <p:ext uri="{BB962C8B-B14F-4D97-AF65-F5344CB8AC3E}">
        <p14:creationId xmlns:p14="http://schemas.microsoft.com/office/powerpoint/2010/main" val="52863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F3F3F3"/>
      </a:dk2>
      <a:lt2>
        <a:srgbClr val="158158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1322</TotalTime>
  <Words>1101</Words>
  <Application>Microsoft Office PowerPoint</Application>
  <PresentationFormat>Widescreen</PresentationFormat>
  <Paragraphs>157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Droid Sans</vt:lpstr>
      <vt:lpstr>Lucida Sans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ABHIJITH NR</cp:lastModifiedBy>
  <cp:revision>43</cp:revision>
  <dcterms:created xsi:type="dcterms:W3CDTF">2025-07-08T05:06:56Z</dcterms:created>
  <dcterms:modified xsi:type="dcterms:W3CDTF">2026-06-13T17:20:58Z</dcterms:modified>
</cp:coreProperties>
</file>